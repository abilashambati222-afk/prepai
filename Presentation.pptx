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6366F1"/>
                </a:solidFill>
                <a:latin typeface="Arial"/>
              </a:defRPr>
            </a:pPr>
            <a:r>
              <a:t>PrepAI</a:t>
            </a:r>
          </a:p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AI-Powered Placement Prep &amp; Mock Interview Simulator</a:t>
            </a:r>
          </a:p>
          <a:p>
            <a:pPr algn="l">
              <a:spcBef>
                <a:spcPts val="24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Decoupled MERN Platform featuring Semantic Resume Auditing &amp; Conversational AI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Static Preparation Portals: </a:t>
            </a:r>
            <a:r>
              <a:rPr sz="1400" b="0">
                <a:solidFill>
                  <a:srgbClr val="FFFFFF"/>
                </a:solidFill>
                <a:latin typeface="Arial"/>
              </a:rPr>
              <a:t>Practice materials rely on generic question sets that lack personalized, role-based adaptation.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Keyword-Based Resume Checkers: </a:t>
            </a:r>
            <a:r>
              <a:rPr sz="1400" b="0">
                <a:solidFill>
                  <a:srgbClr val="FFFFFF"/>
                </a:solidFill>
                <a:latin typeface="Arial"/>
              </a:rPr>
              <a:t>ATS filters check exact string patterns instead of semantic alignment with the job description.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High Cost of Mock Interviews: </a:t>
            </a:r>
            <a:r>
              <a:rPr sz="1400" b="0">
                <a:solidFill>
                  <a:srgbClr val="FFFFFF"/>
                </a:solidFill>
                <a:latin typeface="Arial"/>
              </a:rPr>
              <a:t>Dynamic interview mockups with manual reviews are expensive and difficult to scale.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Lack of Detailed Feedback: </a:t>
            </a:r>
            <a:r>
              <a:rPr sz="1400" b="0">
                <a:solidFill>
                  <a:srgbClr val="FFFFFF"/>
                </a:solidFill>
                <a:latin typeface="Arial"/>
              </a:rPr>
              <a:t>Candidates lack structured insights on specific weaknesses before actual placement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Semantic Resume/ATS Auditing: </a:t>
            </a:r>
            <a:r>
              <a:rPr sz="1400" b="0">
                <a:solidFill>
                  <a:srgbClr val="FFFFFF"/>
                </a:solidFill>
                <a:latin typeface="Arial"/>
              </a:rPr>
              <a:t>Parse candidate PDF resumes and evaluate them against custom job description skills.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Mock Placements simulator: </a:t>
            </a:r>
            <a:r>
              <a:rPr sz="1400" b="0">
                <a:solidFill>
                  <a:srgbClr val="FFFFFF"/>
                </a:solidFill>
                <a:latin typeface="Arial"/>
              </a:rPr>
              <a:t>Conduct interactive sessions across technical, behavioral, HR, and coding prep tracks.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Instant Grading Feedback: </a:t>
            </a:r>
            <a:r>
              <a:rPr sz="1400" b="0">
                <a:solidFill>
                  <a:srgbClr val="FFFFFF"/>
                </a:solidFill>
                <a:latin typeface="Arial"/>
              </a:rPr>
              <a:t>Score written candidate answers on correctness, completeness, and communication clarity.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Concept Analytics: </a:t>
            </a:r>
            <a:r>
              <a:rPr sz="1400" b="0">
                <a:solidFill>
                  <a:srgbClr val="FFFFFF"/>
                </a:solidFill>
                <a:latin typeface="Arial"/>
              </a:rPr>
              <a:t>Provide polar concept mastery grids and progress timelines for historical performance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PROPOSED PREPAI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Profile-Based Question Generator: </a:t>
            </a:r>
            <a:r>
              <a:rPr sz="1400" b="0">
                <a:solidFill>
                  <a:srgbClr val="FFFFFF"/>
                </a:solidFill>
                <a:latin typeface="Arial"/>
              </a:rPr>
              <a:t>AI customizes questions based on candidate target company, target role, and skill sets.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Semantic Response Grading: </a:t>
            </a:r>
            <a:r>
              <a:rPr sz="1400" b="0">
                <a:solidFill>
                  <a:srgbClr val="FFFFFF"/>
                </a:solidFill>
                <a:latin typeface="Arial"/>
              </a:rPr>
              <a:t>Grades candidate text answers across technical accuracy, completeness, and clarity.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Simulated Speech Transcription: </a:t>
            </a:r>
            <a:r>
              <a:rPr sz="1400" b="0">
                <a:solidFill>
                  <a:srgbClr val="FFFFFF"/>
                </a:solidFill>
                <a:latin typeface="Arial"/>
              </a:rPr>
              <a:t>Provides mic input transcription simulation to support conversational mock testing.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Printable Credentials: </a:t>
            </a:r>
            <a:r>
              <a:rPr sz="1400" b="0">
                <a:solidFill>
                  <a:srgbClr val="FFFFFF"/>
                </a:solidFill>
                <a:latin typeface="Arial"/>
              </a:rPr>
              <a:t>Issues secure, print-friendly verification certificates for completed mock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SYSTEM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Frontend Workspace: </a:t>
            </a:r>
            <a:r>
              <a:rPr sz="1400" b="0">
                <a:solidFill>
                  <a:srgbClr val="FFFFFF"/>
                </a:solidFill>
                <a:latin typeface="Arial"/>
              </a:rPr>
              <a:t>Vite, React 19 SPA, Tailwind CSS v4, Framer Motion, Axios client, Recharts.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Backend Workspace: </a:t>
            </a:r>
            <a:r>
              <a:rPr sz="1400" b="0">
                <a:solidFill>
                  <a:srgbClr val="FFFFFF"/>
                </a:solidFill>
                <a:latin typeface="Arial"/>
              </a:rPr>
              <a:t>Node.js, Express.js REST API gateway, JWT Security, bcryptjs salting.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Persistent Database: </a:t>
            </a:r>
            <a:r>
              <a:rPr sz="1400" b="0">
                <a:solidFill>
                  <a:srgbClr val="FFFFFF"/>
                </a:solidFill>
                <a:latin typeface="Arial"/>
              </a:rPr>
              <a:t>MongoDB Atlas cloud document store managed via Mongoose ODM schemas.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AI Core Engine: </a:t>
            </a:r>
            <a:r>
              <a:rPr sz="1400" b="0">
                <a:solidFill>
                  <a:srgbClr val="FFFFFF"/>
                </a:solidFill>
                <a:latin typeface="Arial"/>
              </a:rPr>
              <a:t>Google Gemini SDK Developer API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SYSTEM BLOCK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Client Presentation Layer: </a:t>
            </a:r>
            <a:r>
              <a:rPr sz="1400" b="0">
                <a:solidFill>
                  <a:srgbClr val="FFFFFF"/>
                </a:solidFill>
                <a:latin typeface="Arial"/>
              </a:rPr>
              <a:t>React 19 SPA routes, private Route Guards, state context providers, and responsive dashboards.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API Router Gateway Layer: </a:t>
            </a:r>
            <a:r>
              <a:rPr sz="1400" b="0">
                <a:solidFill>
                  <a:srgbClr val="FFFFFF"/>
                </a:solidFill>
                <a:latin typeface="Arial"/>
              </a:rPr>
              <a:t>Express routes protected by stateless JWT bearer authentication verification middleware.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AI Business Service Layer: </a:t>
            </a:r>
            <a:r>
              <a:rPr sz="1400" b="0">
                <a:solidFill>
                  <a:srgbClr val="FFFFFF"/>
                </a:solidFill>
                <a:latin typeface="Arial"/>
              </a:rPr>
              <a:t>Quarantined Node.js helpers for Gemini prompt construction, PDF parsing, and evaluations.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Storage Layer: </a:t>
            </a:r>
            <a:r>
              <a:rPr sz="1400" b="0">
                <a:solidFill>
                  <a:srgbClr val="FFFFFF"/>
                </a:solidFill>
                <a:latin typeface="Arial"/>
              </a:rPr>
              <a:t>MongoDB Atlas databases storing user credentials, interview sessions, and progress curves.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DATABASE 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User Collection Schema: </a:t>
            </a:r>
            <a:r>
              <a:rPr sz="1400" b="0">
                <a:solidFill>
                  <a:srgbClr val="FFFFFF"/>
                </a:solidFill>
                <a:latin typeface="Arial"/>
              </a:rPr>
              <a:t>Stores login credentials, profile verification states, and academic/skill preferences.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Interview Collection Schema: </a:t>
            </a:r>
            <a:r>
              <a:rPr sz="1400" b="0">
                <a:solidFill>
                  <a:srgbClr val="FFFFFF"/>
                </a:solidFill>
                <a:latin typeface="Arial"/>
              </a:rPr>
              <a:t>References User. Caches generated questions, user answers, and detailed grade reviews.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Career Collection Schema: </a:t>
            </a:r>
            <a:r>
              <a:rPr sz="1400" b="0">
                <a:solidFill>
                  <a:srgbClr val="FFFFFF"/>
                </a:solidFill>
                <a:latin typeface="Arial"/>
              </a:rPr>
              <a:t>References User. Caches roadmap details, learning resources, and matching percentages.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CareerSnapshot Collection: </a:t>
            </a:r>
            <a:r>
              <a:rPr sz="1400" b="0">
                <a:solidFill>
                  <a:srgbClr val="FFFFFF"/>
                </a:solidFill>
                <a:latin typeface="Arial"/>
              </a:rPr>
              <a:t>Tracks chronological score progressions to feed the Recharts Area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SESSION SECURITY &amp; JWT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Password Hashing: </a:t>
            </a:r>
            <a:r>
              <a:rPr sz="1400" b="0">
                <a:solidFill>
                  <a:srgbClr val="FFFFFF"/>
                </a:solidFill>
                <a:latin typeface="Arial"/>
              </a:rPr>
              <a:t>Passwords are salted and encrypted using bcryptjs pre-save Mongoose schema hooks.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Stateless Session Authorization: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Signs a JWT upon successful registration or login and saves it in Client localStorage.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API Route Protection Middleware: </a:t>
            </a:r>
            <a:r>
              <a:rPr sz="1400" b="0">
                <a:solidFill>
                  <a:srgbClr val="FFFFFF"/>
                </a:solidFill>
                <a:latin typeface="Arial"/>
              </a:rPr>
              <a:t>Express protect middleware intercepts requests, decodes headers, and injects user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CANDIDATE ONBOARDING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Takewise Profile Configuration: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Collects graduation details, CGPA, target dream companies, target roles, and skill lists.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Tactile User Interface: </a:t>
            </a:r>
            <a:r>
              <a:rPr sz="1400" b="0">
                <a:solidFill>
                  <a:srgbClr val="FFFFFF"/>
                </a:solidFill>
                <a:latin typeface="Arial"/>
              </a:rPr>
              <a:t>Tactile step-progression indicators and focus-ring forms collect onboarding preferences.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Synchronized Console Setup: </a:t>
            </a:r>
            <a:r>
              <a:rPr sz="1400" b="0">
                <a:solidFill>
                  <a:srgbClr val="FFFFFF"/>
                </a:solidFill>
                <a:latin typeface="Arial"/>
              </a:rPr>
              <a:t>Connects user onboarding metadata to personalize the home dashboard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RESUME INGESTION &amp;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PDF Upload Ingestion: </a:t>
            </a:r>
            <a:r>
              <a:rPr sz="1400" b="0">
                <a:solidFill>
                  <a:srgbClr val="FFFFFF"/>
                </a:solidFill>
                <a:latin typeface="Arial"/>
              </a:rPr>
              <a:t>Multer handles multipart PDF file uploads and buffers them to backend/uploads/.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Text Extraction Pipeline: </a:t>
            </a:r>
            <a:r>
              <a:rPr sz="1400" b="0">
                <a:solidFill>
                  <a:srgbClr val="FFFFFF"/>
                </a:solidFill>
                <a:latin typeface="Arial"/>
              </a:rPr>
              <a:t>Extracts plain text content from PDF data buffers.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AI Structured Parsing: </a:t>
            </a:r>
            <a:r>
              <a:rPr sz="1400" b="0">
                <a:solidFill>
                  <a:srgbClr val="FFFFFF"/>
                </a:solidFill>
                <a:latin typeface="Arial"/>
              </a:rPr>
              <a:t>Gemini parses extracted text and returns structured skills, education, and experience JSON.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Formatting Audit: </a:t>
            </a:r>
            <a:r>
              <a:rPr sz="1400" b="0">
                <a:solidFill>
                  <a:srgbClr val="FFFFFF"/>
                </a:solidFill>
                <a:latin typeface="Arial"/>
              </a:rPr>
              <a:t>Generates an initial parsing confidence score based on layout formatting.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JOB DESCRIPTION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Alignment Matrix: </a:t>
            </a:r>
            <a:r>
              <a:rPr sz="1400" b="0">
                <a:solidFill>
                  <a:srgbClr val="FFFFFF"/>
                </a:solidFill>
                <a:latin typeface="Arial"/>
              </a:rPr>
              <a:t>Compares parsed resume skills against target job description requirements.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ATS Score Gauge: </a:t>
            </a:r>
            <a:r>
              <a:rPr sz="1400" b="0">
                <a:solidFill>
                  <a:srgbClr val="FFFFFF"/>
                </a:solidFill>
                <a:latin typeface="Arial"/>
              </a:rPr>
              <a:t>Calculates a semantic matching percentage and identifies critical skill gaps.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Study Roadmaps: </a:t>
            </a:r>
            <a:r>
              <a:rPr sz="1400" b="0">
                <a:solidFill>
                  <a:srgbClr val="FFFFFF"/>
                </a:solidFill>
                <a:latin typeface="Arial"/>
              </a:rPr>
              <a:t>Recommends specific engineering projects and learning resources to address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MOCK PLACEMENT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Multi-Track Sessions: </a:t>
            </a:r>
            <a:r>
              <a:rPr sz="1400" b="0">
                <a:solidFill>
                  <a:srgbClr val="FFFFFF"/>
                </a:solidFill>
                <a:latin typeface="Arial"/>
              </a:rPr>
              <a:t>Conducts HR, Technical, Behavioral, Coding, Resume, and Project Deep-Dive interviews.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Dynamic Setup Panel: </a:t>
            </a:r>
            <a:r>
              <a:rPr sz="1400" b="0">
                <a:solidFill>
                  <a:srgbClr val="FFFFFF"/>
                </a:solidFill>
                <a:latin typeface="Arial"/>
              </a:rPr>
              <a:t>Generates a 5-question mock session customized to target roles and companies.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Timer Constraints: </a:t>
            </a:r>
            <a:r>
              <a:rPr sz="1400" b="0">
                <a:solidFill>
                  <a:srgbClr val="FFFFFF"/>
                </a:solidFill>
                <a:latin typeface="Arial"/>
              </a:rPr>
              <a:t>Implements time limits per question with automated submission on timeout.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SPEECH INPUT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Voice Input Simulation: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Frontend simulates mic speech input, transcribing spoken answers in real-time.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Speech Dialogue Evaluation: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Sends transcripts to the backend and evaluates them using the same semantic models.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Tactile Wave Indicators: </a:t>
            </a:r>
            <a:r>
              <a:rPr sz="1400" b="0">
                <a:solidFill>
                  <a:srgbClr val="FFFFFF"/>
                </a:solidFill>
                <a:latin typeface="Arial"/>
              </a:rPr>
              <a:t>Displays animated waves on the interface when speech is active.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AI EVALUATION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Technical Accuracy Criteria: </a:t>
            </a:r>
            <a:r>
              <a:rPr sz="1400" b="0">
                <a:solidFill>
                  <a:srgbClr val="FFFFFF"/>
                </a:solidFill>
                <a:latin typeface="Arial"/>
              </a:rPr>
              <a:t>Verifies core concepts, correctness, and technical terms in candidate answers.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Completeness Index: </a:t>
            </a:r>
            <a:r>
              <a:rPr sz="1400" b="0">
                <a:solidFill>
                  <a:srgbClr val="FFFFFF"/>
                </a:solidFill>
                <a:latin typeface="Arial"/>
              </a:rPr>
              <a:t>Checks if the answer covers all parts of the question prompt.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Clarity &amp; Professionalism: </a:t>
            </a:r>
            <a:r>
              <a:rPr sz="1400" b="0">
                <a:solidFill>
                  <a:srgbClr val="FFFFFF"/>
                </a:solidFill>
                <a:latin typeface="Arial"/>
              </a:rPr>
              <a:t>Evaluates communication clarity, vocabulary, and grammar.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STAR Method Verification: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Evaluates situation, task, action, and result details for behavioral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ANALYTICS &amp;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Progress Curves: </a:t>
            </a:r>
            <a:r>
              <a:rPr sz="1400" b="0">
                <a:solidFill>
                  <a:srgbClr val="FFFFFF"/>
                </a:solidFill>
                <a:latin typeface="Arial"/>
              </a:rPr>
              <a:t>Recharts Area charts plot overall mock score history over time.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Subject Domain Grid: </a:t>
            </a:r>
            <a:r>
              <a:rPr sz="1400" b="0">
                <a:solidFill>
                  <a:srgbClr val="FFFFFF"/>
                </a:solidFill>
                <a:latin typeface="Arial"/>
              </a:rPr>
              <a:t>Radar charts map candidate concept mastery across topic categories.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Category Performance Metrics: </a:t>
            </a:r>
            <a:r>
              <a:rPr sz="1400" b="0">
                <a:solidFill>
                  <a:srgbClr val="FFFFFF"/>
                </a:solidFill>
                <a:latin typeface="Arial"/>
              </a:rPr>
              <a:t>Bar charts display average scores across Technical, HR, and Coding categories.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VERIFICATION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Performance Threshold: </a:t>
            </a:r>
            <a:r>
              <a:rPr sz="1400" b="0">
                <a:solidFill>
                  <a:srgbClr val="FFFFFF"/>
                </a:solidFill>
                <a:latin typeface="Arial"/>
              </a:rPr>
              <a:t>Mock sessions scoring &gt;= 70% automatically issue a certificate of completion.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Tracking Verification IDs: </a:t>
            </a:r>
            <a:r>
              <a:rPr sz="1400" b="0">
                <a:solidFill>
                  <a:srgbClr val="FFFFFF"/>
                </a:solidFill>
                <a:latin typeface="Arial"/>
              </a:rPr>
              <a:t>Generates a unique tracking verification code for each certificate.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Printable Formats: </a:t>
            </a:r>
            <a:r>
              <a:rPr sz="1400" b="0">
                <a:solidFill>
                  <a:srgbClr val="FFFFFF"/>
                </a:solidFill>
                <a:latin typeface="Arial"/>
              </a:rPr>
              <a:t>Provides a print-friendly certificate layout with stamp seals for print/download.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PRODUCTION CLOUD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Frontend Static Bundling: </a:t>
            </a:r>
            <a:r>
              <a:rPr sz="1400" b="0">
                <a:solidFill>
                  <a:srgbClr val="FFFFFF"/>
                </a:solidFill>
                <a:latin typeface="Arial"/>
              </a:rPr>
              <a:t>Vite React production build served on Vercel CDN edge servers.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Backend Service Hosting: </a:t>
            </a:r>
            <a:r>
              <a:rPr sz="1400" b="0">
                <a:solidFill>
                  <a:srgbClr val="FFFFFF"/>
                </a:solidFill>
                <a:latin typeface="Arial"/>
              </a:rPr>
              <a:t>Express Node.js REST API server hosted on Render.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Cloud Database Service: </a:t>
            </a:r>
            <a:r>
              <a:rPr sz="1400" b="0">
                <a:solidFill>
                  <a:srgbClr val="FFFFFF"/>
                </a:solidFill>
                <a:latin typeface="Arial"/>
              </a:rPr>
              <a:t>MongoDB Atlas shared cluster handles persistent storage.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SUMMARY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Project Summary: </a:t>
            </a:r>
            <a:r>
              <a:rPr sz="1400" b="0">
                <a:solidFill>
                  <a:srgbClr val="FFFFFF"/>
                </a:solidFill>
                <a:latin typeface="Arial"/>
              </a:rPr>
              <a:t>Developed a decoupled, AI-driven placement preparation platform with real-time semantic evaluations.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Real-Time Speech Analysis: </a:t>
            </a:r>
            <a:r>
              <a:rPr sz="1400" b="0">
                <a:solidFill>
                  <a:srgbClr val="FFFFFF"/>
                </a:solidFill>
                <a:latin typeface="Arial"/>
              </a:rPr>
              <a:t>Future Scope: Integrate WebRTC for actual audio analysis.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Secure Sandbox Environment: </a:t>
            </a:r>
            <a:r>
              <a:rPr sz="1400" b="0">
                <a:solidFill>
                  <a:srgbClr val="FFFFFF"/>
                </a:solidFill>
                <a:latin typeface="Arial"/>
              </a:rPr>
              <a:t>Future Scope: Add code sandbox containers to compile and run candidate code.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▪ Multi-Tenant Administration: </a:t>
            </a:r>
            <a:r>
              <a:rPr sz="1400" b="0">
                <a:solidFill>
                  <a:srgbClr val="FFFFFF"/>
                </a:solidFill>
                <a:latin typeface="Arial"/>
              </a:rPr>
              <a:t>Future Scope: Build dashboards for universities to track overall class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